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Semi-Bold" charset="1" panose="00000700000000000000"/>
      <p:regular r:id="rId16"/>
    </p:embeddedFont>
    <p:embeddedFont>
      <p:font typeface="Poppins Light" charset="1" panose="00000400000000000000"/>
      <p:regular r:id="rId17"/>
    </p:embeddedFont>
    <p:embeddedFont>
      <p:font typeface="Poppins Medium" charset="1" panose="00000600000000000000"/>
      <p:regular r:id="rId18"/>
    </p:embeddedFont>
    <p:embeddedFont>
      <p:font typeface="Poppins" charset="1" panose="00000500000000000000"/>
      <p:regular r:id="rId19"/>
    </p:embeddedFont>
    <p:embeddedFont>
      <p:font typeface="League Spartan" charset="1" panose="00000800000000000000"/>
      <p:regular r:id="rId20"/>
    </p:embeddedFont>
    <p:embeddedFont>
      <p:font typeface="Poppins Bold" charset="1" panose="00000800000000000000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4663" y="9619869"/>
            <a:ext cx="18477327" cy="0"/>
          </a:xfrm>
          <a:prstGeom prst="line">
            <a:avLst/>
          </a:prstGeom>
          <a:ln cap="flat" w="9525">
            <a:solidFill>
              <a:srgbClr val="EDED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94663" y="7821281"/>
            <a:ext cx="18477327" cy="0"/>
          </a:xfrm>
          <a:prstGeom prst="line">
            <a:avLst/>
          </a:prstGeom>
          <a:ln cap="flat" w="9525">
            <a:solidFill>
              <a:srgbClr val="EDED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69807" y="3088"/>
            <a:ext cx="7818193" cy="7818193"/>
          </a:xfrm>
          <a:custGeom>
            <a:avLst/>
            <a:gdLst/>
            <a:ahLst/>
            <a:cxnLst/>
            <a:rect r="r" b="b" t="t" l="l"/>
            <a:pathLst>
              <a:path h="7818193" w="7818193">
                <a:moveTo>
                  <a:pt x="0" y="0"/>
                </a:moveTo>
                <a:lnTo>
                  <a:pt x="7818193" y="0"/>
                </a:lnTo>
                <a:lnTo>
                  <a:pt x="7818193" y="7818193"/>
                </a:lnTo>
                <a:lnTo>
                  <a:pt x="0" y="781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89793"/>
            <a:ext cx="9441107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2000" spc="-480" b="tru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Our </a:t>
            </a:r>
            <a:r>
              <a:rPr lang="en-US" sz="12000" spc="-480" b="true">
                <a:solidFill>
                  <a:srgbClr val="EDEDE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Project.</a:t>
            </a:r>
          </a:p>
          <a:p>
            <a:pPr algn="l">
              <a:lnSpc>
                <a:spcPts val="10800"/>
              </a:lnSpc>
            </a:pPr>
            <a:r>
              <a:rPr lang="en-US" sz="12000" spc="-480" b="true">
                <a:solidFill>
                  <a:srgbClr val="EDEDE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Team </a:t>
            </a:r>
            <a:r>
              <a:rPr lang="en-US" sz="12000" spc="-480" b="tru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DFJ</a:t>
            </a:r>
            <a:r>
              <a:rPr lang="en-US" sz="12000" spc="-480" b="true">
                <a:solidFill>
                  <a:srgbClr val="EDEDE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26772">
            <a:off x="1051915" y="3632759"/>
            <a:ext cx="7193720" cy="941723"/>
          </a:xfrm>
          <a:custGeom>
            <a:avLst/>
            <a:gdLst/>
            <a:ahLst/>
            <a:cxnLst/>
            <a:rect r="r" b="b" t="t" l="l"/>
            <a:pathLst>
              <a:path h="941723" w="7193720">
                <a:moveTo>
                  <a:pt x="0" y="0"/>
                </a:moveTo>
                <a:lnTo>
                  <a:pt x="7193720" y="0"/>
                </a:lnTo>
                <a:lnTo>
                  <a:pt x="7193720" y="941723"/>
                </a:lnTo>
                <a:lnTo>
                  <a:pt x="0" y="94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592185"/>
            <a:ext cx="6393695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>
                <a:solidFill>
                  <a:srgbClr val="EDEDED"/>
                </a:solidFill>
                <a:latin typeface="Poppins Light"/>
                <a:ea typeface="Poppins Light"/>
                <a:cs typeface="Poppins Light"/>
                <a:sym typeface="Poppins Light"/>
              </a:rPr>
              <a:t>David, Fidel, Jane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58612" y="8592185"/>
            <a:ext cx="470068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</a:pPr>
            <a:r>
              <a:rPr lang="en-US" sz="2599">
                <a:solidFill>
                  <a:srgbClr val="EDEDED"/>
                </a:solidFill>
                <a:latin typeface="Poppins Light"/>
                <a:ea typeface="Poppins Light"/>
                <a:cs typeface="Poppins Light"/>
                <a:sym typeface="Poppins Light"/>
              </a:rPr>
              <a:t>G-Research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0339146" y="-135115"/>
            <a:ext cx="0" cy="10557229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343909" y="2241577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343909" y="3526262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343909" y="4810946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343909" y="6095631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343909" y="7380315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343909" y="8664999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341431">
            <a:off x="1028700" y="269319"/>
            <a:ext cx="7315200" cy="2926080"/>
          </a:xfrm>
          <a:custGeom>
            <a:avLst/>
            <a:gdLst/>
            <a:ahLst/>
            <a:cxnLst/>
            <a:rect r="r" b="b" t="t" l="l"/>
            <a:pathLst>
              <a:path h="2926080" w="7315200">
                <a:moveTo>
                  <a:pt x="0" y="0"/>
                </a:moveTo>
                <a:lnTo>
                  <a:pt x="7315200" y="0"/>
                </a:lnTo>
                <a:lnTo>
                  <a:pt x="731520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9200" y="895976"/>
            <a:ext cx="81153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2000" spc="-480" b="tru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77817" y="1442390"/>
            <a:ext cx="507153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How We Formed Our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7342" y="2727075"/>
            <a:ext cx="507153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Development 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77817" y="4007274"/>
            <a:ext cx="507153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2599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Programming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7817" y="5291959"/>
            <a:ext cx="507153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Signal Generation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77817" y="6586168"/>
            <a:ext cx="507153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Testings / 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39431" y="1548864"/>
            <a:ext cx="62134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39431" y="2829064"/>
            <a:ext cx="62134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39431" y="4113748"/>
            <a:ext cx="62134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39431" y="5398433"/>
            <a:ext cx="62134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39431" y="6687602"/>
            <a:ext cx="62134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39431" y="7967801"/>
            <a:ext cx="621348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339146" y="917464"/>
            <a:ext cx="813935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1877817" y="7861327"/>
            <a:ext cx="507153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Insights / Conclusion</a:t>
            </a:r>
          </a:p>
        </p:txBody>
      </p:sp>
    </p:spTree>
  </p:cSld>
  <p:clrMapOvr>
    <a:masterClrMapping/>
  </p:clrMapOvr>
  <p:transition spd="slow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7264062" y="-135115"/>
            <a:ext cx="0" cy="10557229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189327" y="3124274"/>
            <a:ext cx="1847732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685167" y="258339"/>
            <a:ext cx="1581789" cy="1460998"/>
          </a:xfrm>
          <a:custGeom>
            <a:avLst/>
            <a:gdLst/>
            <a:ahLst/>
            <a:cxnLst/>
            <a:rect r="r" b="b" t="t" l="l"/>
            <a:pathLst>
              <a:path h="1460998" w="1581789">
                <a:moveTo>
                  <a:pt x="0" y="0"/>
                </a:moveTo>
                <a:lnTo>
                  <a:pt x="1581789" y="0"/>
                </a:lnTo>
                <a:lnTo>
                  <a:pt x="1581789" y="1460998"/>
                </a:lnTo>
                <a:lnTo>
                  <a:pt x="0" y="146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1643" y="3124274"/>
            <a:ext cx="7542130" cy="5055086"/>
          </a:xfrm>
          <a:custGeom>
            <a:avLst/>
            <a:gdLst/>
            <a:ahLst/>
            <a:cxnLst/>
            <a:rect r="r" b="b" t="t" l="l"/>
            <a:pathLst>
              <a:path h="5055086" w="7542130">
                <a:moveTo>
                  <a:pt x="0" y="0"/>
                </a:moveTo>
                <a:lnTo>
                  <a:pt x="7542129" y="0"/>
                </a:lnTo>
                <a:lnTo>
                  <a:pt x="7542129" y="5055086"/>
                </a:lnTo>
                <a:lnTo>
                  <a:pt x="0" y="5055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783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12418"/>
            <a:ext cx="13537874" cy="218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889" spc="-355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How </a:t>
            </a:r>
            <a:r>
              <a:rPr lang="en-US" sz="8889" spc="-355" b="tru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We </a:t>
            </a:r>
            <a:r>
              <a:rPr lang="en-US" sz="8889" spc="-355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Formed Our Strategy.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682" y="4479112"/>
            <a:ext cx="10212532" cy="3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3295" indent="-246647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Looked at </a:t>
            </a:r>
            <a:r>
              <a:rPr lang="en-US" sz="2284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TradingView</a:t>
            </a: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with Indicators</a:t>
            </a:r>
          </a:p>
          <a:p>
            <a:pPr algn="just" marL="493295" indent="-246647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Discovered Simple Moving Average + Support / Resistance </a:t>
            </a:r>
          </a:p>
          <a:p>
            <a:pPr algn="just">
              <a:lnSpc>
                <a:spcPts val="3198"/>
              </a:lnSpc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lines</a:t>
            </a:r>
          </a:p>
          <a:p>
            <a:pPr algn="l" marL="493295" indent="-246647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Support/resistance lines limited (as static) and SMA slow</a:t>
            </a:r>
          </a:p>
          <a:p>
            <a:pPr algn="l">
              <a:lnSpc>
                <a:spcPts val="3198"/>
              </a:lnSpc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to respond to market - signal delayed</a:t>
            </a:r>
          </a:p>
          <a:p>
            <a:pPr algn="l" marL="493295" indent="-246647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Researched Exponential Moving Averages, Bollinger bands,</a:t>
            </a:r>
          </a:p>
          <a:p>
            <a:pPr algn="l">
              <a:lnSpc>
                <a:spcPts val="3198"/>
              </a:lnSpc>
            </a:pPr>
            <a:r>
              <a:rPr lang="en-US" sz="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and mean reversion - Z-Score</a:t>
            </a:r>
          </a:p>
          <a:p>
            <a:pPr algn="l">
              <a:lnSpc>
                <a:spcPts val="3198"/>
              </a:lnSpc>
            </a:pP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7264062" y="-135115"/>
            <a:ext cx="0" cy="10557229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189327" y="2556414"/>
            <a:ext cx="1847732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840518" y="590327"/>
            <a:ext cx="5875315" cy="9241133"/>
          </a:xfrm>
          <a:custGeom>
            <a:avLst/>
            <a:gdLst/>
            <a:ahLst/>
            <a:cxnLst/>
            <a:rect r="r" b="b" t="t" l="l"/>
            <a:pathLst>
              <a:path h="9241133" w="5875315">
                <a:moveTo>
                  <a:pt x="0" y="0"/>
                </a:moveTo>
                <a:lnTo>
                  <a:pt x="5875315" y="0"/>
                </a:lnTo>
                <a:lnTo>
                  <a:pt x="5875315" y="9241133"/>
                </a:lnTo>
                <a:lnTo>
                  <a:pt x="0" y="9241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807" y="928010"/>
            <a:ext cx="12839229" cy="91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1"/>
              </a:lnSpc>
            </a:pPr>
            <a:r>
              <a:rPr lang="en-US" sz="6990" spc="-279" b="tru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Our </a:t>
            </a:r>
            <a:r>
              <a:rPr lang="en-US" sz="6990" spc="-27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Development Process.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1807" y="2600296"/>
            <a:ext cx="4953992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Our </a:t>
            </a:r>
            <a:r>
              <a:rPr lang="en-US" sz="5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659862"/>
            <a:ext cx="12515260" cy="628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Used a GitHub repo to collaborate - version control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Developed incrementally 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Started with EMA &amp; Graph, added features 1 at a time while testing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 into issues like negative balances, lack of signals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</a:t>
            </a:r>
            <a:r>
              <a:rPr lang="en-US" sz="48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</a:t>
            </a:r>
            <a:r>
              <a:rPr lang="en-US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 used: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Pandas:</a:t>
            </a: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Analysing, cleaning and manipulating data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Plotly:</a:t>
            </a: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Representing data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83466"/>
            <a:ext cx="8347933" cy="753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478" indent="-256239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Statistical analysis</a:t>
            </a: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Algorithms for mean reversion (with Z-Scores), Bollinger bands, EMA (Short and Long Term)</a:t>
            </a:r>
          </a:p>
          <a:p>
            <a:pPr algn="l">
              <a:lnSpc>
                <a:spcPts val="3323"/>
              </a:lnSpc>
            </a:pPr>
          </a:p>
          <a:p>
            <a:pPr algn="l" marL="512478" indent="-256239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Trading Strategy</a:t>
            </a: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Mix of factors: Extreme Z score, price outside Bollinger Band, EMA crossover for trend detection</a:t>
            </a:r>
          </a:p>
          <a:p>
            <a:pPr algn="l">
              <a:lnSpc>
                <a:spcPts val="3323"/>
              </a:lnSpc>
            </a:pPr>
          </a:p>
          <a:p>
            <a:pPr algn="l" marL="512478" indent="-256239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Simulation</a:t>
            </a: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 Executing trades according to signals</a:t>
            </a:r>
          </a:p>
          <a:p>
            <a:pPr algn="l">
              <a:lnSpc>
                <a:spcPts val="3323"/>
              </a:lnSpc>
            </a:pPr>
          </a:p>
          <a:p>
            <a:pPr algn="l" marL="512478" indent="-256239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Parameters </a:t>
            </a: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 Tweaking inputs to function to maximise profit (E.G. window length for EMA and Z-Score thresholds</a:t>
            </a:r>
          </a:p>
          <a:p>
            <a:pPr algn="l">
              <a:lnSpc>
                <a:spcPts val="3323"/>
              </a:lnSpc>
            </a:pPr>
          </a:p>
          <a:p>
            <a:pPr algn="l" marL="512478" indent="-256239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Graph + Tables</a:t>
            </a: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Candlestick graph used to visualise strategy + signals. Other graphs / tables track portfolio value, profit, sharpe ratio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94663" y="1898872"/>
            <a:ext cx="1847732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599499" y="2475135"/>
            <a:ext cx="8233002" cy="5917470"/>
          </a:xfrm>
          <a:custGeom>
            <a:avLst/>
            <a:gdLst/>
            <a:ahLst/>
            <a:cxnLst/>
            <a:rect r="r" b="b" t="t" l="l"/>
            <a:pathLst>
              <a:path h="5917470" w="8233002">
                <a:moveTo>
                  <a:pt x="0" y="0"/>
                </a:moveTo>
                <a:lnTo>
                  <a:pt x="8233002" y="0"/>
                </a:lnTo>
                <a:lnTo>
                  <a:pt x="8233002" y="5917470"/>
                </a:lnTo>
                <a:lnTo>
                  <a:pt x="0" y="5917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834045" y="287717"/>
            <a:ext cx="9268142" cy="103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59703"/>
            <a:ext cx="1440581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</a:t>
            </a: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amming phase.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1105" y="7281975"/>
            <a:ext cx="16425789" cy="2525465"/>
          </a:xfrm>
          <a:custGeom>
            <a:avLst/>
            <a:gdLst/>
            <a:ahLst/>
            <a:cxnLst/>
            <a:rect r="r" b="b" t="t" l="l"/>
            <a:pathLst>
              <a:path h="2525465" w="16425789">
                <a:moveTo>
                  <a:pt x="0" y="0"/>
                </a:moveTo>
                <a:lnTo>
                  <a:pt x="16425790" y="0"/>
                </a:lnTo>
                <a:lnTo>
                  <a:pt x="16425790" y="2525466"/>
                </a:lnTo>
                <a:lnTo>
                  <a:pt x="0" y="2525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6634" y="2919398"/>
            <a:ext cx="8143215" cy="3437151"/>
          </a:xfrm>
          <a:custGeom>
            <a:avLst/>
            <a:gdLst/>
            <a:ahLst/>
            <a:cxnLst/>
            <a:rect r="r" b="b" t="t" l="l"/>
            <a:pathLst>
              <a:path h="3437151" w="8143215">
                <a:moveTo>
                  <a:pt x="0" y="0"/>
                </a:moveTo>
                <a:lnTo>
                  <a:pt x="8143216" y="0"/>
                </a:lnTo>
                <a:lnTo>
                  <a:pt x="8143216" y="3437152"/>
                </a:lnTo>
                <a:lnTo>
                  <a:pt x="0" y="3437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77975"/>
            <a:ext cx="12707109" cy="133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2"/>
              </a:lnSpc>
            </a:pPr>
            <a:r>
              <a:rPr lang="en-US" sz="78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Generating </a:t>
            </a:r>
            <a:r>
              <a:rPr lang="en-US" sz="7801" b="true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  <a:r>
              <a:rPr lang="en-US" sz="78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78301"/>
            <a:ext cx="8417934" cy="485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Conditions: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Extreme Z-Score ( &gt; |1.25|)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Market Conditions (E.G. Uptrend for buying) - calculated using EMA crossover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Outside Bollinger Bands ( &gt; |0.5|)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 3 have to be true for signal - reduces noise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67924"/>
            <a:ext cx="152005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+ </a:t>
            </a:r>
            <a:r>
              <a:rPr lang="en-US" sz="9200" b="true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52646" y="3801101"/>
            <a:ext cx="17182708" cy="2684798"/>
          </a:xfrm>
          <a:custGeom>
            <a:avLst/>
            <a:gdLst/>
            <a:ahLst/>
            <a:cxnLst/>
            <a:rect r="r" b="b" t="t" l="l"/>
            <a:pathLst>
              <a:path h="2684798" w="17182708">
                <a:moveTo>
                  <a:pt x="0" y="0"/>
                </a:moveTo>
                <a:lnTo>
                  <a:pt x="17182708" y="0"/>
                </a:lnTo>
                <a:lnTo>
                  <a:pt x="17182708" y="2684798"/>
                </a:lnTo>
                <a:lnTo>
                  <a:pt x="0" y="2684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2646" y="7015188"/>
            <a:ext cx="17182708" cy="2706276"/>
          </a:xfrm>
          <a:custGeom>
            <a:avLst/>
            <a:gdLst/>
            <a:ahLst/>
            <a:cxnLst/>
            <a:rect r="r" b="b" t="t" l="l"/>
            <a:pathLst>
              <a:path h="2706276" w="17182708">
                <a:moveTo>
                  <a:pt x="0" y="0"/>
                </a:moveTo>
                <a:lnTo>
                  <a:pt x="17182708" y="0"/>
                </a:lnTo>
                <a:lnTo>
                  <a:pt x="17182708" y="2706276"/>
                </a:lnTo>
                <a:lnTo>
                  <a:pt x="0" y="2706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27848"/>
            <a:ext cx="1251526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back tested our strategy throughout the whole process, using each stock’s 10-year historical 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2678" y="1654263"/>
            <a:ext cx="15182643" cy="8255562"/>
          </a:xfrm>
          <a:custGeom>
            <a:avLst/>
            <a:gdLst/>
            <a:ahLst/>
            <a:cxnLst/>
            <a:rect r="r" b="b" t="t" l="l"/>
            <a:pathLst>
              <a:path h="8255562" w="15182643">
                <a:moveTo>
                  <a:pt x="0" y="0"/>
                </a:moveTo>
                <a:lnTo>
                  <a:pt x="15182644" y="0"/>
                </a:lnTo>
                <a:lnTo>
                  <a:pt x="15182644" y="8255562"/>
                </a:lnTo>
                <a:lnTo>
                  <a:pt x="0" y="825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67924"/>
            <a:ext cx="152005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+ </a:t>
            </a:r>
            <a:r>
              <a:rPr lang="en-US" sz="9200" b="true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67924"/>
            <a:ext cx="152005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+ </a:t>
            </a:r>
            <a:r>
              <a:rPr lang="en-US" sz="9200" b="true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82406" y="2108700"/>
            <a:ext cx="7939628" cy="6431099"/>
          </a:xfrm>
          <a:custGeom>
            <a:avLst/>
            <a:gdLst/>
            <a:ahLst/>
            <a:cxnLst/>
            <a:rect r="r" b="b" t="t" l="l"/>
            <a:pathLst>
              <a:path h="6431099" w="7939628">
                <a:moveTo>
                  <a:pt x="0" y="0"/>
                </a:moveTo>
                <a:lnTo>
                  <a:pt x="7939628" y="0"/>
                </a:lnTo>
                <a:lnTo>
                  <a:pt x="7939628" y="6431099"/>
                </a:lnTo>
                <a:lnTo>
                  <a:pt x="0" y="6431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108700"/>
            <a:ext cx="8551953" cy="3463541"/>
          </a:xfrm>
          <a:custGeom>
            <a:avLst/>
            <a:gdLst/>
            <a:ahLst/>
            <a:cxnLst/>
            <a:rect r="r" b="b" t="t" l="l"/>
            <a:pathLst>
              <a:path h="3463541" w="8551953">
                <a:moveTo>
                  <a:pt x="0" y="0"/>
                </a:moveTo>
                <a:lnTo>
                  <a:pt x="8551953" y="0"/>
                </a:lnTo>
                <a:lnTo>
                  <a:pt x="8551953" y="3463541"/>
                </a:lnTo>
                <a:lnTo>
                  <a:pt x="0" y="346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00434" y="7620901"/>
            <a:ext cx="9621414" cy="75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215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Using AMD stock, we turned the starting 100k into ≈ </a:t>
            </a:r>
            <a:r>
              <a:rPr lang="en-US" sz="2152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9M</a:t>
            </a:r>
          </a:p>
          <a:p>
            <a:pPr algn="l">
              <a:lnSpc>
                <a:spcPts val="3013"/>
              </a:lnSpc>
            </a:pPr>
            <a:r>
              <a:rPr lang="en-US" sz="215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 an overall sharpe ratio of 1.27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59703"/>
            <a:ext cx="165764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 + Conclusions.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0293" y="1776385"/>
            <a:ext cx="17408598" cy="563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2"/>
              </a:lnSpc>
            </a:pPr>
          </a:p>
          <a:p>
            <a:pPr algn="l">
              <a:lnSpc>
                <a:spcPts val="4072"/>
              </a:lnSpc>
            </a:pPr>
            <a:r>
              <a:rPr lang="en-US" sz="2908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Challenges We Faced &amp; Lessons Learned: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Starting from a blank slate - researching new financial concepts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</a:t>
            </a: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ilding a detailed &amp; accurate simulation (E.G. taking fees into account)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Generating signals that were not too strict or lenient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Navigating new data structures within Pandas Library (E.G. Dataframes)</a:t>
            </a:r>
          </a:p>
          <a:p>
            <a:pPr algn="l">
              <a:lnSpc>
                <a:spcPts val="4072"/>
              </a:lnSpc>
            </a:pPr>
          </a:p>
          <a:p>
            <a:pPr algn="l">
              <a:lnSpc>
                <a:spcPts val="4072"/>
              </a:lnSpc>
            </a:pPr>
            <a:r>
              <a:rPr lang="en-US" sz="2908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If  We Had More Time: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 a stop loss system to prevent large losses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Expand</a:t>
            </a: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on strategies used (E.G. ATR for volatility) </a:t>
            </a:r>
          </a:p>
          <a:p>
            <a:pPr algn="l" marL="628003" indent="-314002" lvl="1">
              <a:lnSpc>
                <a:spcPts val="4072"/>
              </a:lnSpc>
              <a:buFont typeface="Arial"/>
              <a:buChar char="•"/>
            </a:pPr>
            <a:r>
              <a:rPr lang="en-US" sz="29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 support for multiple stocks at once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DAGvSTPgJSw</dc:identifier>
  <dcterms:modified xsi:type="dcterms:W3CDTF">2011-08-01T06:04:30Z</dcterms:modified>
  <cp:revision>1</cp:revision>
  <dc:title>Our Project. DFJ</dc:title>
</cp:coreProperties>
</file>